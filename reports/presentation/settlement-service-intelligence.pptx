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d60e531884de1" /><Relationship Type="http://schemas.openxmlformats.org/officeDocument/2006/relationships/extended-properties" Target="/docProps/app.xml" Id="Rf94fe26eb21340d1" /><Relationship Type="http://schemas.openxmlformats.org/officeDocument/2006/relationships/officeDocument" Target="/ppt/presentation.xml" Id="R9ff1f9860376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6579e91a94f4e"/>
  </p:sldMasterIdLst>
  <p:notesMasterIdLst>
    <p:notesMasterId xmlns:r="http://schemas.openxmlformats.org/officeDocument/2006/relationships" r:id="R73d7a22ec8384969"/>
  </p:notesMasterIdLst>
  <p:sldIdLst>
    <p:sldId xmlns:r="http://schemas.openxmlformats.org/officeDocument/2006/relationships" id="256" r:id="Rc890979835644741"/>
    <p:sldId xmlns:r="http://schemas.openxmlformats.org/officeDocument/2006/relationships" id="257" r:id="R84bc1d4de9484c0f"/>
    <p:sldId xmlns:r="http://schemas.openxmlformats.org/officeDocument/2006/relationships" id="258" r:id="R3e44a18c634f43a9"/>
    <p:sldId xmlns:r="http://schemas.openxmlformats.org/officeDocument/2006/relationships" id="259" r:id="Rc4b24ed6fd984c8a"/>
    <p:sldId xmlns:r="http://schemas.openxmlformats.org/officeDocument/2006/relationships" id="260" r:id="Rfd3ca4284e3d48eb"/>
    <p:sldId xmlns:r="http://schemas.openxmlformats.org/officeDocument/2006/relationships" id="261" r:id="R5a18a5151bb344b9"/>
    <p:sldId xmlns:r="http://schemas.openxmlformats.org/officeDocument/2006/relationships" id="262" r:id="Ra2406377734a49a2"/>
    <p:sldId xmlns:r="http://schemas.openxmlformats.org/officeDocument/2006/relationships" id="263" r:id="R4f28bfbe21c14c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777d48e5c4d66" /><Relationship Type="http://schemas.openxmlformats.org/officeDocument/2006/relationships/slideMaster" Target="/ppt/slideMasters/slideMaster1.xml" Id="Ra726579e91a94f4e" /><Relationship Type="http://schemas.openxmlformats.org/officeDocument/2006/relationships/notesMaster" Target="/ppt/notesMasters/notesMaster1.xml" Id="R73d7a22ec8384969" /><Relationship Type="http://schemas.openxmlformats.org/officeDocument/2006/relationships/presProps" Target="/ppt/presProps.xml" Id="R1078d90ffef34e36" /><Relationship Type="http://schemas.openxmlformats.org/officeDocument/2006/relationships/tableStyles" Target="/ppt/tableStyles.xml" Id="R5b3fe5926d4041a3" /><Relationship Type="http://schemas.openxmlformats.org/officeDocument/2006/relationships/slide" Target="/ppt/slides/slide1.xml" Id="Rc890979835644741" /><Relationship Type="http://schemas.openxmlformats.org/officeDocument/2006/relationships/slide" Target="/ppt/slides/slide2.xml" Id="R84bc1d4de9484c0f" /><Relationship Type="http://schemas.openxmlformats.org/officeDocument/2006/relationships/slide" Target="/ppt/slides/slide3.xml" Id="R3e44a18c634f43a9" /><Relationship Type="http://schemas.openxmlformats.org/officeDocument/2006/relationships/slide" Target="/ppt/slides/slide4.xml" Id="Rc4b24ed6fd984c8a" /><Relationship Type="http://schemas.openxmlformats.org/officeDocument/2006/relationships/slide" Target="/ppt/slides/slide5.xml" Id="Rfd3ca4284e3d48eb" /><Relationship Type="http://schemas.openxmlformats.org/officeDocument/2006/relationships/slide" Target="/ppt/slides/slide6.xml" Id="R5a18a5151bb344b9" /><Relationship Type="http://schemas.openxmlformats.org/officeDocument/2006/relationships/slide" Target="/ppt/slides/slide7.xml" Id="Ra2406377734a49a2" /><Relationship Type="http://schemas.openxmlformats.org/officeDocument/2006/relationships/slide" Target="/ppt/slides/slide8.xml" Id="R4f28bfbe21c14c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24010e621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658b0d25e4de4" /><Relationship Type="http://schemas.openxmlformats.org/officeDocument/2006/relationships/notesMaster" Target="/ppt/notesMasters/notesMaster1.xml" Id="R21c94afc4474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44c14fc804279" /><Relationship Type="http://schemas.openxmlformats.org/officeDocument/2006/relationships/notesMaster" Target="/ppt/notesMasters/notesMaster1.xml" Id="R73c9a35b1756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53f8a910224351" /><Relationship Type="http://schemas.openxmlformats.org/officeDocument/2006/relationships/notesMaster" Target="/ppt/notesMasters/notesMaster1.xml" Id="R3b88ede50cc1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8bd98dbc845f7" /><Relationship Type="http://schemas.openxmlformats.org/officeDocument/2006/relationships/notesMaster" Target="/ppt/notesMasters/notesMaster1.xml" Id="R4997ba8d38ba44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8030ea50a94b71" /><Relationship Type="http://schemas.openxmlformats.org/officeDocument/2006/relationships/notesMaster" Target="/ppt/notesMasters/notesMaster1.xml" Id="R902bf69a319940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42e35fc884d29" /><Relationship Type="http://schemas.openxmlformats.org/officeDocument/2006/relationships/notesMaster" Target="/ppt/notesMasters/notesMaster1.xml" Id="Rdb2a5dffc84144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7c6d55dac348ac" /><Relationship Type="http://schemas.openxmlformats.org/officeDocument/2006/relationships/notesMaster" Target="/ppt/notesMasters/notesMaster1.xml" Id="Ra83fdccf1ca949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5e263171734c83" /><Relationship Type="http://schemas.openxmlformats.org/officeDocument/2006/relationships/notesMaster" Target="/ppt/notesMasters/notesMaster1.xml" Id="Ra8724db24bc7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Q4 2025 historical study. Domain context: Elexon imbalance pricing guidance [E1, E3].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src/ingest, src/validate, src/transform, sql/analysis.sql and powerbi/project.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DERIVED: data/quality and summary.json. Historical completeness does not establish live service availability.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DERIVED: length_summary.csv; sign convention from Elexon [E1]. No causal claim.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FLAG: full-quarter percentiles with inclusive ties; not BSC or service limits.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+ DERIVED: 13 Oct 2025 SP26 summary and offer stack [E4]. See price_reconciliation.csv.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portfolio workflow, not a documented Elexon internal procedure. Price-stack checks completed for three cases.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repository: elexon-service-intelligence/README.md. Report: powerbi/project/Settlement.pbip.</a:t>
            </a:r>
          </a:p>
          <a:p xmlns:a="http://schemas.openxmlformats.org/drawingml/2006/main">
            <a:r>
              <a:t>Independent portfolio project. Not affiliated with or endorsed by Elexon. Numerical source: immutable DISEBSP snapshot retrieved 9 September 2026, Q4 2025. See SOURCES.md and METHODOLOGY.md.</a:t>
            </a:r>
          </a:p>
          <a:p xmlns:a="http://schemas.openxmlformats.org/drawingml/2006/main">
            <a:r>
              <a:t>E1 https://www.elexon.co.uk/bsc/settlement/imbalance-pricing/</a:t>
            </a:r>
          </a:p>
          <a:p xmlns:a="http://schemas.openxmlformats.org/drawingml/2006/main">
            <a:r>
              <a:t>E3 https://bscdocs.elexon.co.uk/guidance-notes/imbalance-pricing-guidance</a:t>
            </a:r>
          </a:p>
          <a:p xmlns:a="http://schemas.openxmlformats.org/drawingml/2006/main">
            <a:r>
              <a:t>E4 https://developer.data.elexon.co.uk/api-details#api=prod-insol-insights-api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e538927a0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dde1dc13534235" /><Relationship Type="http://schemas.openxmlformats.org/officeDocument/2006/relationships/slideLayout" Target="/ppt/slideLayouts/slideLayout1.xml" Id="Rfca861d9ee4b4f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a861d9ee4b4f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596bd716e43d1" /><Relationship Type="http://schemas.openxmlformats.org/officeDocument/2006/relationships/notesSlide" Target="/ppt/notesSlides/notesSlide1.xml" Id="R8d254bbb1b7048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b8faebe7e4c31" /><Relationship Type="http://schemas.openxmlformats.org/officeDocument/2006/relationships/notesSlide" Target="/ppt/notesSlides/notesSlide2.xml" Id="R9b43a738570a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695141fd64687" /><Relationship Type="http://schemas.openxmlformats.org/officeDocument/2006/relationships/notesSlide" Target="/ppt/notesSlides/notesSlide3.xml" Id="R10b7e4166777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89a3eb14c463c" /><Relationship Type="http://schemas.openxmlformats.org/officeDocument/2006/relationships/chart" Target="/ppt/slides/charts/chart1.xml" Id="R037a3ae3bfba4849" /><Relationship Type="http://schemas.openxmlformats.org/officeDocument/2006/relationships/notesSlide" Target="/ppt/notesSlides/notesSlide4.xml" Id="R69e4fd45dc8c41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6daaa09f5449d" /><Relationship Type="http://schemas.openxmlformats.org/officeDocument/2006/relationships/notesSlide" Target="/ppt/notesSlides/notesSlide5.xml" Id="Rb844efd82d6a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f400e03cf4886" /><Relationship Type="http://schemas.openxmlformats.org/officeDocument/2006/relationships/notesSlide" Target="/ppt/notesSlides/notesSlide6.xml" Id="Rd8ff13b932a34c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6b5714a8f4ac6" /><Relationship Type="http://schemas.openxmlformats.org/officeDocument/2006/relationships/notesSlide" Target="/ppt/notesSlides/notesSlide7.xml" Id="R359b50c184174f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82621fdb74c0b" /><Relationship Type="http://schemas.openxmlformats.org/officeDocument/2006/relationships/notesSlide" Target="/ppt/notesSlides/notesSlide8.xml" Id="R61bf5ac5c1bf40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price</c:v>
          </c:tx>
          <c:spPr>
            <a:solidFill xmlns:a="http://schemas.openxmlformats.org/drawingml/2006/main">
              <a:srgbClr val="155E75"/>
            </a:solidFill>
          </c:spPr>
          <c:cat>
            <c:strRef>
              <c:f>'Chart Data'!$A$2:$A$3</c:f>
              <c:strCache>
                <c:ptCount val="2"/>
                <c:pt idx="0">
                  <c:v>Long</c:v>
                </c:pt>
                <c:pt idx="1">
                  <c:v>Short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53.07</c:v>
                </c:pt>
                <c:pt idx="1">
                  <c:v>101.24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30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33B7F-2F68-4FAC-BD80-25BADD2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Accurate settlement data supports disciplined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0A9C3-26E6-46B7-A1DD-363D903D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Scope: Q4 2025 historical study. Domain context: Elexon imbalance pricing guidance [E1, E3].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98F22-7DF1-44A9-A4F9-41C9573A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651ED-2120-4810-8236-53952755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5E7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5E75"/>
                </a:solidFill>
                <a:latin typeface="DejaVu Sans"/>
                <a:ea typeface="DejaVu Sans"/>
                <a:cs typeface="DejaVu Sans"/>
              </a:rPr>
              <a:t>GB Settlement &amp; Imbalance Service Intelligence Monitor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3558E-086F-44B0-BA43-8CC9548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Elexon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EED7B-5930-4C87-80CA-5DE79DA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Preserve the original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E4BDC-AAEF-42DE-A568-A6D3B60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8003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F57FF-C12D-4B42-9B78-B715F30C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6004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Check coverage, values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30EE5-A1EF-4F7F-B41E-4908245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8003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5D121-A65D-4367-91A5-198AA611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04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Screen unusual periods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6566F-7B32-40F9-A15C-83CC0AF2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8003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640C5-B79E-46FE-B07C-E2423DEE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36004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Separate known facts from hypotheses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C6508-E4CF-4725-9C20-937F7D57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8003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Next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B7EBA-BCB4-4232-8FE3-291DAD65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6004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Recommend evidence checks before escalation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9C3C1-D983-46D1-86CA-F1A6E2B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Independent portfolio project. Not affiliated with or endorsed by Elexon.</a:t>
            </a:r>
          </a:p>
        </p:txBody>
      </p:sp>
    </p:spTree>
    <p:extLst>
      <p:ext uri="{BB962C8B-B14F-4D97-AF65-F5344CB8AC3E}">
        <p14:creationId xmlns:p14="http://schemas.microsoft.com/office/powerpoint/2010/main" val="1953261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F4372-A53A-4379-9A35-37E2A3BD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The workflow preserves evidence at each analytical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210CE-3F70-480C-8F95-0C52F6C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Implementation: src/ingest, src/validate, src/transform, sql/analysis.sql and powerbi/project.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19BA5-AF14-4FD8-AEC4-92F06FDD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6BD2F-CCCE-447E-8369-1B831FB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Official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75C24-87F5-443D-9A2D-9F9F8E8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Daily prices and selected price stacks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09233-769B-435A-B378-73F1EE12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1907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Immutable 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8394E-4682-43D3-8640-63742B35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9908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Original bytes, request receipts and SHA-256 hashes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26372-B75C-45D2-A2D1-F46125A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1907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Validated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B6812-E001-47C6-9A19-4037B458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908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Python controls and independent SQL summaries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E2073-BDDD-4F36-8537-28185A1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1907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Semantic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B6634-0478-430A-A434-43A128A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9908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Date and period dimensions</a:t>
            </a:r>
          </a:p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Explicit measures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53A72-738E-47BF-A5B0-6C5ED6F0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190750"/>
            <a:ext cx="182499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8A27B-40B3-425E-A276-D5D9F198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990850"/>
            <a:ext cx="18249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Four report pages</a:t>
            </a:r>
          </a:p>
          <a:p xmlns:a="http://schemas.openxmlformats.org/drawingml/2006/main">
            <a:pPr>
              <a:def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Structured investigation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74B26-C843-4663-94B4-FB11D2F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E7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5E75"/>
                </a:solidFill>
                <a:latin typeface="DejaVu Sans"/>
                <a:ea typeface="DejaVu Sans"/>
                <a:cs typeface="DejaVu Sans"/>
              </a:rPr>
              <a:t>OBSERVED  Source values      DERIVED  Calculations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805EE-2FF1-48BC-B07B-BF30C55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05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0512B"/>
                </a:solidFill>
                <a:latin typeface="DejaVu Sans"/>
                <a:ea typeface="DejaVu Sans"/>
                <a:cs typeface="DejaVu Sans"/>
              </a:rPr>
              <a:t>FLAG  Review rules      HYPOTHESIS  Explanations still to test</a:t>
            </a:r>
          </a:p>
        </p:txBody>
      </p:sp>
    </p:spTree>
    <p:extLst>
      <p:ext uri="{BB962C8B-B14F-4D97-AF65-F5344CB8AC3E}">
        <p14:creationId xmlns:p14="http://schemas.microsoft.com/office/powerpoint/2010/main" val="456055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7C989-E2A6-41B4-9393-9227709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All 4,418 expected periods pass the core data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B9E21-D626-4082-9782-BD32355F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DERIVED: data/quality and summary.json. Historical completeness does not establish live service availability.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A1D6-3D28-4802-8D3C-6473E6C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111252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762250"/>
                <a:gridCol w="4838700"/>
              </a:tblGrid>
              <a:tr h="6381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Snapshot result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4,418 / 4,418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 of expected periods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Duplicate keys / core nulls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/ 0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detected core defects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Schema / invalid values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core exceptions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fields pass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 change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periods on 26 Oct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London calendar check passes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Retrieval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92 / 92 daily requests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Successful snapshot retrieval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A7742-B73E-40CB-B018-DC2D635C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Source creation time and retrieval time remain separate. Later source revisions are possible.</a:t>
            </a:r>
          </a:p>
        </p:txBody>
      </p:sp>
    </p:spTree>
    <p:extLst>
      <p:ext uri="{BB962C8B-B14F-4D97-AF65-F5344CB8AC3E}">
        <p14:creationId xmlns:p14="http://schemas.microsoft.com/office/powerpoint/2010/main" val="1030159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38D3-DA62-4DB2-BC98-AD591A28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Short-system periods had higher prices in this quarter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529B3-51E7-441D-86CB-F86D198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DERIVED: length_summary.csv; sign convention from Elexon [E1]. No causal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94CBE-7CCF-46C8-925C-493B65F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072B-0827-4BE2-9B39-72719039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Mean System Price (GBP/MWh)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71247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7a3ae3bfba484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3242-20DB-4695-911C-CA9C5883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2,340 long periods</a:t>
            </a:r>
          </a:p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2,076 short periods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36764-890D-48BF-9B38-B965783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Median prices</a:t>
            </a:r>
          </a:p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Long: £62.28/MWh</a:t>
            </a:r>
          </a:p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Short: £98.73/MWh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04DE0-F72A-41D1-A20F-5BB6DE3D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768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Two balanced periods sit outside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79981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5C51-94C1-4FD8-AF2C-01F2899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130 periods meet the retrospective review thresholds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280FE-7F76-4424-BADF-57EDA2E0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FLAG: full-quarter percentiles with inclusive ties; not BSC or service limits.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C02DA-9C1D-4D96-8EDB-1BA7D15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F87D9-DE47-4800-B781-D7EE863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5E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5E75"/>
                </a:solidFill>
                <a:latin typeface="DejaVu Sans"/>
                <a:ea typeface="DejaVu Sans"/>
                <a:cs typeface="DejaVu Sans"/>
              </a:rPr>
              <a:t>92 price flags + 45 imbalance flags − 7 overlapping periods = 130 distinct periods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667000"/>
          <a:ext xmlns:a="http://schemas.openxmlformats.org/drawingml/2006/main" cx="111252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476500"/>
                <a:gridCol w="2743200"/>
              </a:tblGrid>
              <a:tr h="6048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case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System Price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NIV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2025-10-13 SP26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£487.00/MWh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+184.92 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price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2025-11-01 SP19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£-30.00/MWh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-1,136.75 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price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2025-10-03 SP37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£109.40/MWh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+1,563.34 MWh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Largest |NIV|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C38E6-51EF-4358-A77E-39E0AD5B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Price ≤ −£11.22 or ≥ £153.8997/MWh. Absolute NIV ≥ 876.0417 MWh.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867F4-0088-40CA-9BBD-48813DB1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Three cases have detailed price evidence. The other 127 remain at detection level.</a:t>
            </a:r>
          </a:p>
        </p:txBody>
      </p:sp>
    </p:spTree>
    <p:extLst>
      <p:ext uri="{BB962C8B-B14F-4D97-AF65-F5344CB8AC3E}">
        <p14:creationId xmlns:p14="http://schemas.microsoft.com/office/powerpoint/2010/main" val="1189825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DB22D-0743-46C4-9E88-2A5E2AB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The £487 price reconciles, while the underlying cause remains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6CFAD-ED1B-44C9-AE0B-3E78C6C7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OBSERVED + DERIVED: 13 Oct 2025 SP26 summary and offer stack [E4]. See price_reconciliation.csv.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F537F-CC58-472F-856A-6B04D84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84D2-E045-4573-9FF9-F4BEB43A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5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5E75"/>
                </a:solidFill>
                <a:latin typeface="DejaVu Sans"/>
                <a:ea typeface="DejaVu Sans"/>
                <a:cs typeface="DejaVu Sans"/>
              </a:rPr>
              <a:t>KNOWN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1547-F787-4855-9099-94C927A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048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13 October 2025, SP26</a:t>
            </a:r>
          </a:p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System Price: £487/MWh</a:t>
            </a:r>
          </a:p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NIV: +184.92 MWh (short)</a:t>
            </a:r>
          </a:p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Core quality checks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B4E5-125A-43B8-9A26-CA65AC2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Retained adjusted cost / volume</a:t>
            </a:r>
          </a:p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£479.6670462 / 0.9849426 MWh</a:t>
            </a:r>
          </a:p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+ £0/MWh adjuster = £487/MWh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8C24A-0925-44BD-B83F-3075C5A0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051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80512B"/>
                </a:solidFill>
                <a:latin typeface="DejaVu Sans"/>
                <a:ea typeface="DejaVu Sans"/>
                <a:cs typeface="DejaVu Sans"/>
              </a:rPr>
              <a:t>NOT ESTABLISHED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BB7F1-1E0B-4B9D-B0F6-6C79852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5238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The cause of the short position</a:t>
            </a:r>
          </a:p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Why particular actions were needed</a:t>
            </a:r>
          </a:p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Any platform or service incident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C703D-93D6-4B91-88D2-F794CF6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523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The stack supports the price calculation. It does not identify the market cause. Matching prices do not prove identical source vintages.</a:t>
            </a:r>
          </a:p>
        </p:txBody>
      </p:sp>
    </p:spTree>
    <p:extLst>
      <p:ext uri="{BB962C8B-B14F-4D97-AF65-F5344CB8AC3E}">
        <p14:creationId xmlns:p14="http://schemas.microsoft.com/office/powerpoint/2010/main" val="2028107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21077-59FC-4721-86D1-58989E6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Further checks should test explanations before escalation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4095-7E06-4799-A722-DE04C1D1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Proposed portfolio workflow, not a documented Elexon internal procedure. Price-stack checks completed for three cases.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2A1E-FD34-4166-8BC7-F166F2CA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143250"/>
                <a:gridCol w="4933950"/>
              </a:tblGrid>
              <a:tr h="635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stage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position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check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data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Passed for this snapshot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Recheck revisions before reuse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calculation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Three cases reconciled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calculation vintages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Balancing context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Partial action evidence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Inspect action timing and adjustments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Demand / generation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Cause still open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a specific supply/demand hypothesis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incident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attribution established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official status and issue evidence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57ADD-D33A-419E-A18F-539A582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Escalation needs an evidence-backed issue, a clear owner and a documented next action.</a:t>
            </a:r>
          </a:p>
        </p:txBody>
      </p:sp>
    </p:spTree>
    <p:extLst>
      <p:ext uri="{BB962C8B-B14F-4D97-AF65-F5344CB8AC3E}">
        <p14:creationId xmlns:p14="http://schemas.microsoft.com/office/powerpoint/2010/main" val="118656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71FD5-2B4F-41AD-A98F-B7C09869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The project makes Service Analyst work visible and reviewable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73CCD-0507-4D3E-B485-05FD6B65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05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Local repository: elexon-service-intelligence/README.md. Report: powerbi/project/Settlement.pbip.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E79F4-8BAF-46BF-87C9-DB898741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6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33400" y="1704975"/>
          <a:ext xmlns:a="http://schemas.openxmlformats.org/drawingml/2006/main" cx="111252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981950"/>
              </a:tblGrid>
              <a:tr h="574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Project evidence</a:t>
                      </a:r>
                    </a:p>
                  </a:txBody>
                  <a:tcPr marL="133350" marR="133350" marT="95250" marB="95250">
                    <a:solidFill>
                      <a:srgbClr val="EAF0F2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Analysis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 / SQL cross-checks and descriptive statistics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Executable controls, clock-change tests and source receipts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Investigation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130-case queue and three price reconciliations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Communication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Known / unknown / next-check records and insight note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improvement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Repeatable ingestion and validated rebuild workflow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3E1C1-27A6-4074-8E5E-129D324A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051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80512B"/>
                </a:solidFill>
                <a:latin typeface="DejaVu Sans"/>
                <a:ea typeface="DejaVu Sans"/>
                <a:cs typeface="DejaVu Sans"/>
              </a:rPr>
              <a:t>Power BI report definitions pass structural/schema checks. Live model calculations, screenshots and interactions still require a licensed runtime.</a:t>
            </a:r>
          </a:p>
        </p:txBody>
      </p:sp>
    </p:spTree>
    <p:extLst>
      <p:ext uri="{BB962C8B-B14F-4D97-AF65-F5344CB8AC3E}">
        <p14:creationId xmlns:p14="http://schemas.microsoft.com/office/powerpoint/2010/main" val="1010454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2026-09-09T18:57:21.8960000Z</dcterms:created>
  <dcterms:modified xsi:type="dcterms:W3CDTF">2026-09-09T18:57:21.8960000Z</dcterms:modified>
</coreProperties>
</file>